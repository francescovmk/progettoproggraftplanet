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953b9fc7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953b9fc7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790488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790488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790488d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9790488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790488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790488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09790488d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09790488d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790488d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9790488d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09790488d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09790488d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09790488d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09790488d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09790488d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09790488d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09790488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09790488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953b9fc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0953b9fc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ba-8Wze4ESpaSoL3dqsdW-nCNfSwA_td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qzQyaIzLOg1AY-wsc1rFqprRwoimEJBk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19100" y="235225"/>
            <a:ext cx="8305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Ray March Planet Rendering</a:t>
            </a:r>
            <a:endParaRPr b="1" sz="4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19100" y="997225"/>
            <a:ext cx="1143000" cy="381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19100" y="4000500"/>
            <a:ext cx="8305800" cy="7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Francesco Virgili</a:t>
            </a:r>
            <a:endParaRPr b="1" sz="22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4DB6AC"/>
                </a:solidFill>
              </a:rPr>
              <a:t>Matricola</a:t>
            </a:r>
            <a:r>
              <a:rPr b="0" lang="it" sz="14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: 914367</a:t>
            </a:r>
            <a:endParaRPr b="0" sz="14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7"/>
            <a:ext cx="85206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La scena è renderizzata esclusivamente tramite </a:t>
            </a:r>
            <a:r>
              <a:rPr b="1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fragment shader</a:t>
            </a:r>
            <a:r>
              <a:rPr b="0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applicato a un </a:t>
            </a:r>
            <a:r>
              <a:rPr lang="it" sz="1600">
                <a:solidFill>
                  <a:srgbClr val="EFEFEF"/>
                </a:solidFill>
              </a:rPr>
              <a:t>triangolo </a:t>
            </a:r>
            <a:r>
              <a:rPr b="0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full-screen.</a:t>
            </a:r>
            <a:endParaRPr b="0" sz="16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Normalizzazione coordinate:</a:t>
            </a:r>
            <a:endParaRPr b="1" sz="16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60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uv = 2.0 * fragCoord / iResolution.xy - 1.0;</a:t>
            </a:r>
            <a:endParaRPr b="0" sz="160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Correzione Aspect Ratio:</a:t>
            </a:r>
            <a:endParaRPr b="1" sz="16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60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uv.x *= iResolution.x / iResolution.y;</a:t>
            </a:r>
            <a:endParaRPr b="0" sz="160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1200"/>
              </a:spcAft>
              <a:buNone/>
            </a:pPr>
            <a:r>
              <a:rPr b="0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Come tecnica di rendering principale è stato utilizzato il </a:t>
            </a:r>
            <a:r>
              <a:rPr b="1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Ray Marching</a:t>
            </a:r>
            <a:r>
              <a:rPr b="0" lang="it" sz="16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6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4091" l="0" r="0" t="14091"/>
          <a:stretch/>
        </p:blipFill>
        <p:spPr>
          <a:xfrm>
            <a:off x="311468" y="4095750"/>
            <a:ext cx="85212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Setup Fragment Shader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19100" y="235225"/>
            <a:ext cx="8520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Ray Marching</a:t>
            </a:r>
            <a:endParaRPr b="1" sz="30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 flipH="1" rot="10800000">
            <a:off x="419100" y="925158"/>
            <a:ext cx="743700" cy="3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5"/>
          <p:cNvGrpSpPr/>
          <p:nvPr/>
        </p:nvGrpSpPr>
        <p:grpSpPr>
          <a:xfrm>
            <a:off x="419100" y="1333500"/>
            <a:ext cx="3810000" cy="2857500"/>
            <a:chOff x="419100" y="1333500"/>
            <a:chExt cx="3810000" cy="2857500"/>
          </a:xfrm>
        </p:grpSpPr>
        <p:sp>
          <p:nvSpPr>
            <p:cNvPr id="71" name="Google Shape;71;p15"/>
            <p:cNvSpPr/>
            <p:nvPr/>
          </p:nvSpPr>
          <p:spPr>
            <a:xfrm>
              <a:off x="419100" y="1333500"/>
              <a:ext cx="3810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419100" y="133350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EFEFEF"/>
                  </a:solidFill>
                </a:rPr>
                <a:t>I</a:t>
              </a:r>
              <a:r>
                <a:rPr b="0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l </a:t>
              </a:r>
              <a:r>
                <a:rPr b="1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Ray Marching</a:t>
              </a:r>
              <a:r>
                <a:rPr b="0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 avanza lungo il raggio a passi variabili.</a:t>
              </a:r>
              <a:endParaRPr b="0" sz="14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EFEFEF"/>
                </a:buClr>
                <a:buSzPts val="1400"/>
                <a:buFont typeface="Arial"/>
                <a:buChar char="●"/>
              </a:pPr>
              <a:r>
                <a:rPr b="0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Utilizza le </a:t>
              </a:r>
              <a:r>
                <a:rPr b="1" lang="it" sz="1400">
                  <a:solidFill>
                    <a:srgbClr val="4DB6AC"/>
                  </a:solidFill>
                  <a:latin typeface="Arial"/>
                  <a:ea typeface="Arial"/>
                  <a:cs typeface="Arial"/>
                  <a:sym typeface="Arial"/>
                </a:rPr>
                <a:t>Signed Distance Functions (SDF)</a:t>
              </a:r>
              <a:r>
                <a:rPr b="0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 per determinare la distanza dall'oggetto più vicino.</a:t>
              </a:r>
              <a:endParaRPr b="0" sz="14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EFEFEF"/>
                </a:buClr>
                <a:buSzPts val="1400"/>
                <a:buFont typeface="Arial"/>
                <a:buChar char="●"/>
              </a:pPr>
              <a:r>
                <a:rPr b="0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Il raggio "marcia" in avanti di una distanza pari al valore restituito dalla SDF.</a:t>
              </a:r>
              <a:endParaRPr b="0" sz="14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EFEFEF"/>
                </a:buClr>
                <a:buSzPts val="1400"/>
                <a:buFont typeface="Arial"/>
                <a:buChar char="●"/>
              </a:pPr>
              <a:r>
                <a:rPr b="0" lang="it" sz="1400">
                  <a:solidFill>
                    <a:srgbClr val="EFEFEF"/>
                  </a:solidFill>
                  <a:latin typeface="Arial"/>
                  <a:ea typeface="Arial"/>
                  <a:cs typeface="Arial"/>
                  <a:sym typeface="Arial"/>
                </a:rPr>
                <a:t>Questo processo garantisce di non saltare mai oltre una superficie.</a:t>
              </a:r>
              <a:endParaRPr b="0" sz="14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4572000" y="1333500"/>
            <a:ext cx="4191000" cy="23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19100" y="4191000"/>
            <a:ext cx="830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Sphere Tracing Visualization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20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Visualizzazione del raggio che si avvicina alla superficie della sfera.</a:t>
            </a:r>
            <a:endParaRPr b="0" sz="11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Telecamera Orbitale</a:t>
            </a:r>
            <a:endParaRPr b="1" sz="23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031050"/>
            <a:ext cx="8520600" cy="392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Funzione</a:t>
            </a:r>
            <a:r>
              <a:rPr b="1" lang="it" sz="11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it" sz="118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180">
                <a:latin typeface="Arial"/>
                <a:ea typeface="Arial"/>
                <a:cs typeface="Arial"/>
                <a:sym typeface="Arial"/>
              </a:rPr>
              <a:t>pixelUvCordinate.xy → cameraFunction → cameraOrigin.xyz, CameraDirection.xyz</a:t>
            </a:r>
            <a:endParaRPr sz="118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it" sz="1070">
                <a:latin typeface="Roboto"/>
                <a:ea typeface="Roboto"/>
                <a:cs typeface="Roboto"/>
                <a:sym typeface="Roboto"/>
              </a:rPr>
              <a:t>hd (angolo orizzontale)</a:t>
            </a:r>
            <a:endParaRPr sz="107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70">
                <a:latin typeface="Roboto"/>
                <a:ea typeface="Roboto"/>
                <a:cs typeface="Roboto"/>
                <a:sym typeface="Roboto"/>
              </a:rPr>
              <a:t>elv (angolo verticale)</a:t>
            </a:r>
            <a:endParaRPr sz="107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it" sz="127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Origine del raggio (Coordinate Sferiche to Cartesiane)</a:t>
            </a:r>
            <a:endParaRPr b="1" sz="127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107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x = sin(hd) * cos(elv)</a:t>
            </a:r>
            <a:endParaRPr sz="107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7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y = sin(elv)</a:t>
            </a:r>
            <a:endParaRPr sz="107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7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z = cos(hd) * cos(elv)</a:t>
            </a:r>
            <a:endParaRPr sz="107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it" sz="127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Vettore direzionale</a:t>
            </a:r>
            <a:endParaRPr b="1" sz="127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107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fowardV = (centro - ro) / ||centro - ro||</a:t>
            </a:r>
            <a:endParaRPr sz="107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7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UpV = (0, 1, 0)</a:t>
            </a:r>
            <a:endParaRPr sz="107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70">
                <a:solidFill>
                  <a:srgbClr val="EFEFE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rightV = UpV × fowardV (prodotto vettoriale)</a:t>
            </a:r>
            <a:endParaRPr sz="1070">
              <a:solidFill>
                <a:srgbClr val="EFEFE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07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rd = norm(uv.x * rightV + uv.y * upV + focal * fowardV);</a:t>
            </a:r>
            <a:endParaRPr sz="1070">
              <a:solidFill>
                <a:srgbClr val="FFFFF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1" name="Google Shape;81;p16" title="capture (1)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5925" y="1550913"/>
            <a:ext cx="3848525" cy="28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64950"/>
            <a:ext cx="9144000" cy="201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311700" y="4286250"/>
            <a:ext cx="852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Diagramma del Flusso Principale</a:t>
            </a:r>
            <a:endParaRPr b="1" sz="110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Implementazione del ciclo di </a:t>
            </a:r>
            <a:r>
              <a:rPr lang="it" sz="1100">
                <a:solidFill>
                  <a:srgbClr val="4DB6AC"/>
                </a:solidFill>
              </a:rPr>
              <a:t>rendering </a:t>
            </a:r>
            <a:r>
              <a:rPr lang="it" sz="11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tramite SDF.</a:t>
            </a:r>
            <a:endParaRPr sz="11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Ray March Main Loop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 flipH="1" rot="10800000">
            <a:off x="419100" y="925158"/>
            <a:ext cx="743700" cy="3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696" y="445027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SDF Planet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696" y="1047750"/>
            <a:ext cx="57150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Coordinate Transformation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1203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p' = p - c</a:t>
            </a:r>
            <a:endParaRPr sz="1203">
              <a:solidFill>
                <a:srgbClr val="FFFFF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it" sz="1203">
                <a:solidFill>
                  <a:srgbClr val="FFFFFF"/>
                </a:solidFill>
              </a:rPr>
              <a:t>Rotazione divisa </a:t>
            </a: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it" sz="1203">
                <a:solidFill>
                  <a:srgbClr val="FFFFFF"/>
                </a:solidFill>
              </a:rPr>
              <a:t>tre rotazioni 2D per</a:t>
            </a: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p.yz, p.xz, p.xy.</a:t>
            </a:r>
            <a:endParaRPr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Distance Function (SDF)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1203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d(p) = |p| - r * (1 + noise)</a:t>
            </a:r>
            <a:endParaRPr sz="1203">
              <a:solidFill>
                <a:srgbClr val="FFFFF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Noise layering </a:t>
            </a:r>
            <a:r>
              <a:rPr lang="it" sz="1203">
                <a:solidFill>
                  <a:srgbClr val="FFFFFF"/>
                </a:solidFill>
              </a:rPr>
              <a:t>di </a:t>
            </a: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Simplex Noise:</a:t>
            </a:r>
            <a:b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it" sz="1203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noise^2 + FractalSimplexNoise</a:t>
            </a:r>
            <a:endParaRPr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Fractal Noise Parameters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3"/>
              <a:buFont typeface="Arial"/>
              <a:buChar char="●"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a:</a:t>
            </a: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ampiezza (amplitude)</a:t>
            </a:r>
            <a:endParaRPr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9" lvl="0" marL="457200" rtl="0" algn="l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1203"/>
              <a:buFont typeface="Arial"/>
              <a:buChar char="●"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s:</a:t>
            </a: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frequenza (frequency)</a:t>
            </a:r>
            <a:endParaRPr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9" lvl="0" marL="457200" rtl="0" algn="l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1203"/>
              <a:buFont typeface="Arial"/>
              <a:buChar char="●"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r:</a:t>
            </a:r>
            <a:r>
              <a:rPr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rotazione (rotation)</a:t>
            </a:r>
            <a:endParaRPr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1200"/>
              </a:spcAft>
              <a:buNone/>
            </a:pPr>
            <a:r>
              <a:rPr i="1" lang="it" sz="1203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Colors are mapped based on the noise values.</a:t>
            </a:r>
            <a:endParaRPr i="1" sz="1203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582150" y="1137300"/>
            <a:ext cx="1905000" cy="5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2677400" y="3569875"/>
            <a:ext cx="1714500" cy="4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672" l="12702" r="11963" t="1663"/>
          <a:stretch/>
        </p:blipFill>
        <p:spPr>
          <a:xfrm>
            <a:off x="5470975" y="1190550"/>
            <a:ext cx="2762400" cy="2762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696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SDF Stelle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696" y="1143000"/>
            <a:ext cx="4953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9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Modello Geometrico</a:t>
            </a:r>
            <a:endParaRPr b="1" sz="129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2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 stelle sono rappresentate come semplici sfere definite dalla funzione:</a:t>
            </a:r>
            <a:br>
              <a:rPr b="0" lang="it" sz="12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it" sz="129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d(p) = |p| - r</a:t>
            </a:r>
            <a:endParaRPr b="0" sz="129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t" sz="129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Ripetizione Infinita</a:t>
            </a:r>
            <a:endParaRPr b="1" sz="129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2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Vengono ripetute nello spazio mappando le coordinate del punto </a:t>
            </a:r>
            <a:r>
              <a:rPr b="0" i="1" lang="it" sz="12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it" sz="12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tramite l'operatore modulo:</a:t>
            </a:r>
            <a:endParaRPr b="0" sz="129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29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p' = mod(p, 2) - 1</a:t>
            </a:r>
            <a:endParaRPr b="0" sz="1290">
              <a:solidFill>
                <a:srgbClr val="FFFFF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b="0" lang="it" sz="12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Questo approccio permette di calcolare l'SDF una sola volta per mostrare un'intera volta celeste di stelle ripetute efficientemente.</a:t>
            </a:r>
            <a:endParaRPr b="0" sz="129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9" title="star2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245" r="2235" t="0"/>
          <a:stretch/>
        </p:blipFill>
        <p:spPr>
          <a:xfrm>
            <a:off x="5524500" y="1333500"/>
            <a:ext cx="3048000" cy="304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850" y="1333500"/>
            <a:ext cx="3105300" cy="31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2660" l="0" r="0" t="2660"/>
          <a:stretch/>
        </p:blipFill>
        <p:spPr>
          <a:xfrm>
            <a:off x="5154700" y="762000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type="title"/>
          </p:nvPr>
        </p:nvSpPr>
        <p:spPr>
          <a:xfrm>
            <a:off x="311696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SDF Luna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696" y="1143000"/>
            <a:ext cx="4286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Descrizione del Modello</a:t>
            </a:r>
            <a:endParaRPr b="1" sz="1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it" sz="12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Il modello della Luna utilizza un approccio simile a quello di </a:t>
            </a:r>
            <a:r>
              <a:rPr b="1" lang="it" sz="1295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SDF Planet</a:t>
            </a:r>
            <a:r>
              <a:rPr b="0" lang="it" sz="12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basato sul layering di noise per definire la superficie.</a:t>
            </a:r>
            <a:endParaRPr b="0" sz="12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it" sz="12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differenza del pianeta, i colori rimangono costanti:</a:t>
            </a:r>
            <a:endParaRPr b="0" sz="12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33" lvl="0" marL="45720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295"/>
              <a:buFont typeface="Arial"/>
              <a:buChar char="●"/>
            </a:pPr>
            <a:r>
              <a:rPr b="0" lang="it" sz="12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Utilizzo di </a:t>
            </a:r>
            <a:r>
              <a:rPr b="0" lang="it" sz="1295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Fractal Simplex Noise</a:t>
            </a:r>
            <a:r>
              <a:rPr b="0" lang="it" sz="12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per la rugosità superficiale.</a:t>
            </a:r>
            <a:endParaRPr b="0" sz="12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1295"/>
              <a:buFont typeface="Arial"/>
              <a:buChar char="●"/>
            </a:pPr>
            <a:r>
              <a:rPr b="0" lang="it" sz="12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Mappatura cromatica fissa (scala di grigi) per simulare la regolite lunare.</a:t>
            </a:r>
            <a:endParaRPr b="0" sz="129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696" y="1143000"/>
            <a:ext cx="4953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Effetto Shell</a:t>
            </a:r>
            <a:endParaRPr b="1" sz="13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it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Sfera con simplex noise ma per ottenere un effetto shell sottraiamo una sfera con lo stesso raggio ma noise invertite (scavato invece che in rilievo).</a:t>
            </a:r>
            <a:endParaRPr b="0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Unione delle noise</a:t>
            </a:r>
            <a:endParaRPr b="1" sz="13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30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max(base, -oppbase)</a:t>
            </a:r>
            <a:endParaRPr b="0" sz="1300">
              <a:solidFill>
                <a:srgbClr val="FFFFF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Trasparenza Dinamica</a:t>
            </a:r>
            <a:endParaRPr b="1" sz="13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it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trasparenza viene variata in base al valore delle noise:</a:t>
            </a:r>
            <a:endParaRPr b="0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lang="it" sz="130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color.h = noise * 2.5 + 0.5</a:t>
            </a:r>
            <a:endParaRPr b="0" sz="1300">
              <a:solidFill>
                <a:srgbClr val="FFFFFF"/>
              </a:solidFill>
              <a:highlight>
                <a:srgbClr val="1A1A1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311696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Nuvole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0" l="4053" r="4053" t="0"/>
          <a:stretch/>
        </p:blipFill>
        <p:spPr>
          <a:xfrm>
            <a:off x="5264700" y="857250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Illuminazione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047750"/>
            <a:ext cx="6191400" cy="361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Prendiamo la posizione del punto colpito:</a:t>
            </a:r>
            <a:br>
              <a:rPr b="0"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it" sz="1203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pos = ro + rd * p.dist</a:t>
            </a:r>
            <a:endParaRPr b="0"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Modello Phong Lighting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it" sz="1203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lighting = ambient * n + diffuse * m + specular * h</a:t>
            </a:r>
            <a:endParaRPr b="0"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9" lvl="0" marL="4572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3"/>
              <a:buFont typeface="Arial"/>
              <a:buChar char="●"/>
            </a:pPr>
            <a:r>
              <a:rPr b="0"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Ambient: fisso</a:t>
            </a:r>
            <a:endParaRPr b="0"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9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3"/>
              <a:buFont typeface="Arial"/>
              <a:buChar char="●"/>
            </a:pPr>
            <a:r>
              <a:rPr b="0" lang="it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Diffuse: </a:t>
            </a:r>
            <a:r>
              <a:rPr b="0" lang="it" sz="1203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( ∂f/∂x, ∂f/∂y, ∂f/∂z ) · (lp - pos / ||lp - pos||)</a:t>
            </a:r>
            <a:endParaRPr b="0"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Blinn-Phong Specular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203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Applicazione luce al colore</a:t>
            </a:r>
            <a:endParaRPr b="1" sz="1203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it" sz="1203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baseColor.rgb * lighting</a:t>
            </a:r>
            <a:endParaRPr b="0" sz="120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159" r="159" t="0"/>
          <a:stretch/>
        </p:blipFill>
        <p:spPr>
          <a:xfrm>
            <a:off x="2051225" y="3296048"/>
            <a:ext cx="2193000" cy="6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4">
            <a:alphaModFix/>
          </a:blip>
          <a:srcRect b="-129939" l="40100" r="36100" t="-129903"/>
          <a:stretch/>
        </p:blipFill>
        <p:spPr>
          <a:xfrm>
            <a:off x="6503100" y="458250"/>
            <a:ext cx="1005900" cy="42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696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8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Soft shadows</a:t>
            </a:r>
            <a:endParaRPr b="1" sz="248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140" l="0" r="0" t="130"/>
          <a:stretch/>
        </p:blipFill>
        <p:spPr>
          <a:xfrm>
            <a:off x="923250" y="2145600"/>
            <a:ext cx="3997500" cy="29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696" y="1047750"/>
            <a:ext cx="4286400" cy="333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Algoritmo di Ombreggiatura</a:t>
            </a:r>
            <a:endParaRPr b="1" sz="14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L'ombra viene calcolata campionando la distanza minima lungo il raggio verso la sorgente luminosa:</a:t>
            </a:r>
            <a:endParaRPr b="1" sz="14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shadow = min(shadow, h.dist / t);</a:t>
            </a:r>
            <a:endParaRPr b="1" sz="14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Avanzamento del raggio:</a:t>
            </a:r>
            <a:endParaRPr b="1" sz="14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b="0" lang="it" sz="1400">
                <a:solidFill>
                  <a:srgbClr val="FFFFFF"/>
                </a:solidFill>
                <a:highlight>
                  <a:srgbClr val="1A1A1A"/>
                </a:highlight>
                <a:latin typeface="Courier New"/>
                <a:ea typeface="Courier New"/>
                <a:cs typeface="Courier New"/>
                <a:sym typeface="Courier New"/>
              </a:rPr>
              <a:t>t += h.dist;</a:t>
            </a:r>
            <a:endParaRPr b="1" sz="1400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4">
            <a:alphaModFix/>
          </a:blip>
          <a:srcRect b="50" l="0" r="0" t="60"/>
          <a:stretch/>
        </p:blipFill>
        <p:spPr>
          <a:xfrm>
            <a:off x="4920750" y="953700"/>
            <a:ext cx="3755100" cy="24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 title="capture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